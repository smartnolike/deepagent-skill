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13f635fcbc449b" /><Relationship Type="http://schemas.openxmlformats.org/officeDocument/2006/relationships/extended-properties" Target="/docProps/app.xml" Id="Re360c6f456fa4d56" /><Relationship Type="http://schemas.openxmlformats.org/officeDocument/2006/relationships/officeDocument" Target="/ppt/presentation.xml" Id="R7e7e53c3997d4b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75082b36ff4139"/>
  </p:sldMasterIdLst>
  <p:notesMasterIdLst>
    <p:notesMasterId xmlns:r="http://schemas.openxmlformats.org/officeDocument/2006/relationships" r:id="Ra4b10f714d304ce9"/>
  </p:notesMasterIdLst>
  <p:sldIdLst>
    <p:sldId xmlns:r="http://schemas.openxmlformats.org/officeDocument/2006/relationships" id="256" r:id="Redb634fa1358407a"/>
    <p:sldId xmlns:r="http://schemas.openxmlformats.org/officeDocument/2006/relationships" id="257" r:id="Rcc05a1eb055e49d5"/>
    <p:sldId xmlns:r="http://schemas.openxmlformats.org/officeDocument/2006/relationships" id="258" r:id="Rf298fd2214964890"/>
    <p:sldId xmlns:r="http://schemas.openxmlformats.org/officeDocument/2006/relationships" id="259" r:id="R8afb74d452254f49"/>
    <p:sldId xmlns:r="http://schemas.openxmlformats.org/officeDocument/2006/relationships" id="260" r:id="Rcb4a5c3eca2146aa"/>
    <p:sldId xmlns:r="http://schemas.openxmlformats.org/officeDocument/2006/relationships" id="261" r:id="R71b7311f7d8b418c"/>
    <p:sldId xmlns:r="http://schemas.openxmlformats.org/officeDocument/2006/relationships" id="262" r:id="R654a571f17cd4abf"/>
    <p:sldId xmlns:r="http://schemas.openxmlformats.org/officeDocument/2006/relationships" id="263" r:id="Rbf224556e8b8402c"/>
    <p:sldId xmlns:r="http://schemas.openxmlformats.org/officeDocument/2006/relationships" id="264" r:id="Rb065aaee91694d78"/>
    <p:sldId xmlns:r="http://schemas.openxmlformats.org/officeDocument/2006/relationships" id="265" r:id="Rf4d26bca97824f1a"/>
    <p:sldId xmlns:r="http://schemas.openxmlformats.org/officeDocument/2006/relationships" id="266" r:id="Redf7dbea855840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d2d51d950f40a4" /><Relationship Type="http://schemas.openxmlformats.org/officeDocument/2006/relationships/slideMaster" Target="/ppt/slideMasters/slideMaster1.xml" Id="R1d75082b36ff4139" /><Relationship Type="http://schemas.openxmlformats.org/officeDocument/2006/relationships/notesMaster" Target="/ppt/notesMasters/notesMaster1.xml" Id="Ra4b10f714d304ce9" /><Relationship Type="http://schemas.openxmlformats.org/officeDocument/2006/relationships/presProps" Target="/ppt/presProps.xml" Id="R6425a5ef7d6d4622" /><Relationship Type="http://schemas.openxmlformats.org/officeDocument/2006/relationships/tableStyles" Target="/ppt/tableStyles.xml" Id="Re1b8b40384d541e5" /><Relationship Type="http://schemas.openxmlformats.org/officeDocument/2006/relationships/slide" Target="/ppt/slides/slide1.xml" Id="Redb634fa1358407a" /><Relationship Type="http://schemas.openxmlformats.org/officeDocument/2006/relationships/slide" Target="/ppt/slides/slide2.xml" Id="Rcc05a1eb055e49d5" /><Relationship Type="http://schemas.openxmlformats.org/officeDocument/2006/relationships/slide" Target="/ppt/slides/slide3.xml" Id="Rf298fd2214964890" /><Relationship Type="http://schemas.openxmlformats.org/officeDocument/2006/relationships/slide" Target="/ppt/slides/slide4.xml" Id="R8afb74d452254f49" /><Relationship Type="http://schemas.openxmlformats.org/officeDocument/2006/relationships/slide" Target="/ppt/slides/slide5.xml" Id="Rcb4a5c3eca2146aa" /><Relationship Type="http://schemas.openxmlformats.org/officeDocument/2006/relationships/slide" Target="/ppt/slides/slide6.xml" Id="R71b7311f7d8b418c" /><Relationship Type="http://schemas.openxmlformats.org/officeDocument/2006/relationships/slide" Target="/ppt/slides/slide7.xml" Id="R654a571f17cd4abf" /><Relationship Type="http://schemas.openxmlformats.org/officeDocument/2006/relationships/slide" Target="/ppt/slides/slide8.xml" Id="Rbf224556e8b8402c" /><Relationship Type="http://schemas.openxmlformats.org/officeDocument/2006/relationships/slide" Target="/ppt/slides/slide9.xml" Id="Rb065aaee91694d78" /><Relationship Type="http://schemas.openxmlformats.org/officeDocument/2006/relationships/slide" Target="/ppt/slides/slide10.xml" Id="Rf4d26bca97824f1a" /><Relationship Type="http://schemas.openxmlformats.org/officeDocument/2006/relationships/slide" Target="/ppt/slides/slide11.xml" Id="Redf7dbea855840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2bb515f9fd4f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a1fe02c97143f8" /><Relationship Type="http://schemas.openxmlformats.org/officeDocument/2006/relationships/notesMaster" Target="/ppt/notesMasters/notesMaster1.xml" Id="R4b14bdd7f5184a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5a16e1de5f474d" /><Relationship Type="http://schemas.openxmlformats.org/officeDocument/2006/relationships/notesMaster" Target="/ppt/notesMasters/notesMaster1.xml" Id="Ra78286aef0c546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81f786c5694569" /><Relationship Type="http://schemas.openxmlformats.org/officeDocument/2006/relationships/notesMaster" Target="/ppt/notesMasters/notesMaster1.xml" Id="Rfd7c0ae0baf546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ed28a6d12c44b5" /><Relationship Type="http://schemas.openxmlformats.org/officeDocument/2006/relationships/notesMaster" Target="/ppt/notesMasters/notesMaster1.xml" Id="R2e7d414bb8df4e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ae7685a21541fa" /><Relationship Type="http://schemas.openxmlformats.org/officeDocument/2006/relationships/notesMaster" Target="/ppt/notesMasters/notesMaster1.xml" Id="Rc79a867628934b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200d4c4147403e" /><Relationship Type="http://schemas.openxmlformats.org/officeDocument/2006/relationships/notesMaster" Target="/ppt/notesMasters/notesMaster1.xml" Id="Rd6fbb3d37a974b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42471aa5f74e61" /><Relationship Type="http://schemas.openxmlformats.org/officeDocument/2006/relationships/notesMaster" Target="/ppt/notesMasters/notesMaster1.xml" Id="R142b1b1579b544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f9e728c6044854" /><Relationship Type="http://schemas.openxmlformats.org/officeDocument/2006/relationships/notesMaster" Target="/ppt/notesMasters/notesMaster1.xml" Id="R1e9c6e20b46346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323dc186874df3" /><Relationship Type="http://schemas.openxmlformats.org/officeDocument/2006/relationships/notesMaster" Target="/ppt/notesMasters/notesMaster1.xml" Id="Raf2dcd4732e04e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3f4e3d3b7044de" /><Relationship Type="http://schemas.openxmlformats.org/officeDocument/2006/relationships/notesMaster" Target="/ppt/notesMasters/notesMaster1.xml" Id="Rd7ecaec68b1341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2f04fd14c443f1" /><Relationship Type="http://schemas.openxmlformats.org/officeDocument/2006/relationships/notesMaster" Target="/ppt/notesMasters/notesMaster1.xml" Id="R7faf8d8958b84a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封面。替换分享人、团队信息。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讲述安排：1 页问题，1 页第一版，4 页方案与能力，1 页上线准备，1 页演示，1 页总结。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问题来源：用户对云资源申请属性不理解。避免抽象描述，结合 Cloud SQL 参数举例。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强调第一版的价值：它验证了场景并暴露架构边界，驱动后续的技术决策。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关键技术决策。强调这是从单一 Demo 到可扩展平台的核心升级。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模型结合 Skill 指令、会话状态与工具结果决定下一步。信息不足时向用户澄清，任务完成时回复用户。工具返回结果后进入下一轮判断。需要审批的调用暂停等待用户确认，拒绝则不执行。Sandbox 用于脚本与文件工作区，不代表所有 MCP 调用经过 Sandbox；共享 Sandbox 内目录划分不是独立的操作系统权限边界。资料依据：用户已确认的项目设计及仓库 README 与工作区设计文档。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三项 Skill 信息来源：用户提供的 Skill 截图。Cost Consultant 与 Cost Estimation 的表述以截图中的 description 和触发场景为依据。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 类资源来自用户提供的 authoritative resource catalog 截图。请将 Metrics 的正式业务名称按内部命名确认后再演示。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如评委问生产延迟，明确说明依赖项是 GKE Sandbox 的生产环境可用性，而非核心功能开发未完成。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 5 分钟。建议提前准备一个全新 Dev 名称，避免与已有资源冲突。演示中明确“这是 Dev 申请，会真实提交但不影响生产”。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最后一页以客户价值收束。重点讲：第一，减少云平台团队处理高频咨询和不完整申请的工作量；第二，统一资源申请与关键确认机制；第三，将成本查询和估算带入同一入口。当前已在 Dev 环境验证资源申请闭环，生产上线等待 GKE Sandbox 就绪，因此不要宣称已实现具体节省数字。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09b7cc4f948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7f5a64aaea4e5b" /><Relationship Type="http://schemas.openxmlformats.org/officeDocument/2006/relationships/slideLayout" Target="/ppt/slideLayouts/slideLayout1.xml" Id="R7bbf01fbcce542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bf01fbcce542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83d4496c640d4" /><Relationship Type="http://schemas.openxmlformats.org/officeDocument/2006/relationships/notesSlide" Target="/ppt/notesSlides/notesSlide1.xml" Id="R2c64fefd25af43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191a5799a47fd" /><Relationship Type="http://schemas.openxmlformats.org/officeDocument/2006/relationships/notesSlide" Target="/ppt/notesSlides/notesSlide2.xml" Id="Rdaf03c31481747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006318a4f4a72" /><Relationship Type="http://schemas.openxmlformats.org/officeDocument/2006/relationships/notesSlide" Target="/ppt/notesSlides/notesSlide3.xml" Id="Rf9b1ca4da8b742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ca7e89cef4f9e" /><Relationship Type="http://schemas.openxmlformats.org/officeDocument/2006/relationships/notesSlide" Target="/ppt/notesSlides/notesSlide4.xml" Id="Rc75702c464074a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21a7ab4c0401a" /><Relationship Type="http://schemas.openxmlformats.org/officeDocument/2006/relationships/notesSlide" Target="/ppt/notesSlides/notesSlide5.xml" Id="R51cff21a833345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c555b801148e3" /><Relationship Type="http://schemas.openxmlformats.org/officeDocument/2006/relationships/notesSlide" Target="/ppt/notesSlides/notesSlide6.xml" Id="Rd8f3f866cc934f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1e8738307474d" /><Relationship Type="http://schemas.openxmlformats.org/officeDocument/2006/relationships/notesSlide" Target="/ppt/notesSlides/notesSlide7.xml" Id="R7f244ce83ed042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1ecb0ebc14ae4" /><Relationship Type="http://schemas.openxmlformats.org/officeDocument/2006/relationships/notesSlide" Target="/ppt/notesSlides/notesSlide8.xml" Id="R2c322ca8582f41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0bdb41d5744db" /><Relationship Type="http://schemas.openxmlformats.org/officeDocument/2006/relationships/notesSlide" Target="/ppt/notesSlides/notesSlide9.xml" Id="Rf4ef5b764d2946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0cc3c5f214eb5" /><Relationship Type="http://schemas.openxmlformats.org/officeDocument/2006/relationships/notesSlide" Target="/ppt/notesSlides/notesSlide10.xml" Id="Ra07439d2f4a145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6ed396c2d48f2" /><Relationship Type="http://schemas.openxmlformats.org/officeDocument/2006/relationships/notesSlide" Target="/ppt/notesSlides/notesSlide11.xml" Id="R3adefd4314b24f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356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AE0F7-0D26-4C8B-A15F-5B6DC23E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A1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44AD4-8A13-409E-9136-A7E47E70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0"/>
            <a:ext cx="371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1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1CC9B-E82C-4F04-BE31-0B69184D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8D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18B1F-C097-47A3-BA65-4EAF48C8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9D7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A9D7FF"/>
                </a:solidFill>
                <a:latin typeface="Arial Unicode MS"/>
                <a:ea typeface="Arial Unicode MS"/>
                <a:cs typeface="Arial Unicode MS"/>
              </a:rPr>
              <a:t>TEK STANDARD CUP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E294E-F960-4562-9872-87607336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107"/>
          </a:bodyPr>
          <a:lstStyle xmlns:a="http://schemas.openxmlformats.org/drawingml/2006/main"/>
          <a:p xmlns:a="http://schemas.openxmlformats.org/drawingml/2006/main">
            <a:pPr>
              <a:buNone/>
              <a:defRPr sz="3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Danaan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64860-4345-40DF-AA74-4E20BF6F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B9DE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B9DEFF"/>
                </a:solidFill>
                <a:latin typeface="Arial Unicode MS"/>
                <a:ea typeface="Arial Unicode MS"/>
                <a:cs typeface="Arial Unicode MS"/>
              </a:rPr>
              <a:t>从资源申请 Demo 到</a:t>
            </a:r>
          </a:p>
          <a:p xmlns:a="http://schemas.openxmlformats.org/drawingml/2006/main">
            <a:pPr>
              <a:buNone/>
              <a:defRPr sz="2325" b="1">
                <a:solidFill>
                  <a:srgbClr val="B9DE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B9DEFF"/>
                </a:solidFill>
                <a:latin typeface="Arial Unicode MS"/>
                <a:ea typeface="Arial Unicode MS"/>
                <a:cs typeface="Arial Unicode MS"/>
              </a:rPr>
              <a:t>可扩展的 Agent Skill 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13967-1147-4458-9D69-FBB06903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9A1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ED3DF-DEC4-47A8-9E47-59BDB777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分享人：[姓名]    团队：[部门 / BU]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F4E35-1DE2-4ABF-82CB-A54A0490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9DE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DEFF"/>
                </a:solidFill>
                <a:latin typeface="Arial Unicode MS"/>
                <a:ea typeface="Arial Unicode MS"/>
                <a:cs typeface="Arial Unicode MS"/>
              </a:rPr>
              <a:t>项目状态：Dev 验证完成，等待 GKE Sandbox 生产环境就绪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A1819-E055-49D6-83E0-5D78E71F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9FC6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9FC6ED"/>
                </a:solidFill>
                <a:latin typeface="Arial Unicode MS"/>
                <a:ea typeface="Arial Unicode MS"/>
                <a:cs typeface="Arial Unicode MS"/>
              </a:rPr>
              <a:t>0.5m</a:t>
            </a:r>
          </a:p>
        </p:txBody>
      </p:sp>
    </p:spTree>
    <p:extLst>
      <p:ext uri="{BB962C8B-B14F-4D97-AF65-F5344CB8AC3E}">
        <p14:creationId xmlns:p14="http://schemas.microsoft.com/office/powerpoint/2010/main" val="659613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408AAA-3994-4819-BB15-6936E2FB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A1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43E21-B5FA-491F-98B9-FB4B43B9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rPr>
              <a:t>TEK STANDARD CUP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C35C1-08E3-48E9-9CE3-794C69CE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分享路线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AEE16-E438-4EF3-923F-D6C37C9D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D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B01FE-682D-4A5B-8DB1-BB32CCE5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>0.5m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F1133-B854-450F-A8F5-9F1E56E6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A6159-D832-44BB-A2D1-2A6C853A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>从一个资源申请场景出发，解释为什么需要一个可扩展的 Agent 平台。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ADC7F-C408-4252-B409-C6814008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FA51A-765A-415E-89D4-530DB104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984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用户问题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E0B00-E9AB-4FCC-A3C9-F37E0892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看不懂云资源属性，难以准确提交 Ticket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8ED4B-A055-4939-8A9D-F0363F09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861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6C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36701-CF9B-41F7-AC85-85FE724A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35976-8ED8-43A4-B65F-D2BB250F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7180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984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第一版验证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CF1CC-B924-4A28-8EE0-C61097B3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099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LangGraph 快速跑通闭环，但交互与扩展受限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47DA4-4722-4251-B8F1-84CD9985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861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6CC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5AABA-0127-4A9F-9200-BEAE439F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DD42C9-D23B-4DF3-B621-C234735E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984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关键转型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4C017-E07A-4D58-B718-1F7C3A2D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99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Skill 替代业务流程硬编码，平台可承载多个业务场景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2A21E-7A9D-4EA6-AD67-EC9BDEB1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861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6CC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DB2A2A-167E-481A-990B-271BFB5C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0A4980-B71C-4237-AF2C-22B52699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7180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984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现场演示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5D9724-B749-46F6-9B02-4176FC11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99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在 Dev 环境提交一份 Cloud SQL 资源申请</a:t>
            </a:r>
          </a:p>
        </p:txBody>
      </p:sp>
    </p:spTree>
    <p:extLst>
      <p:ext uri="{BB962C8B-B14F-4D97-AF65-F5344CB8AC3E}">
        <p14:creationId xmlns:p14="http://schemas.microsoft.com/office/powerpoint/2010/main" val="112410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8C2F3-4F71-4119-B3E9-09CD0433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A1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45DBC-C463-4103-9240-D2167D15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rPr>
              <a:t>TEK STANDARD CUP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CF39B-B4BA-4C47-A9CF-99C79473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用户的真实障碍：资源属性难懂，申请成本高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5B91A-F4AA-41D7-BC64-52C684C5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D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745D4-ACC0-4B1A-960B-BBBA9EE8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>2m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96D9E-5B73-4BE9-BAAF-5630B6E8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A629C-E87C-49C5-9B26-CCA13B12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>资源申请不是填写一个名字，而是理解一组专业、相互关联的配置属性。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E306D-E415-475D-8675-DA1FDFBF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rPr>
              <a:t>用户视角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6D531-7E7A-437B-85D6-2CB57BCE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76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不知道资源属性的具体含义，也不确定哪些资源属性缺失或相互冲突。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FC8E8-053F-44C0-9F7E-AD875EA9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rPr>
              <a:t>业务影响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310E4-90FD-4CB6-9F13-34178AAE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76550"/>
            <a:ext cx="276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反复沟通与补充信息，Ticket 质量依赖个人经验。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B35FF-9A92-4DF0-8BB8-B7E1E8AF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rPr>
              <a:t>项目目标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E52AA-F2D8-43FA-9A9A-2B0C877C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用自然语言解释 JSON Schema，在对话中补齐参数并完成受控提交。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A785C-D130-4F84-ACAD-F7424A6B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077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E2CFB-0280-442E-9237-C02108F8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核心价值：让用户理解每一个云资源属性的具体含义，而不只是把资源属性填完。</a:t>
            </a:r>
          </a:p>
        </p:txBody>
      </p:sp>
    </p:spTree>
    <p:extLst>
      <p:ext uri="{BB962C8B-B14F-4D97-AF65-F5344CB8AC3E}">
        <p14:creationId xmlns:p14="http://schemas.microsoft.com/office/powerpoint/2010/main" val="10049436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A2EA78-6C75-479D-AC1D-F0C8EC6C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A1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67AF7-8103-41AB-AF55-84BBEDAD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rPr>
              <a:t>TEK STANDARD CUP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89802-F7F7-4AD4-BABC-989D9368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第一版 LangGraph Demo：验证闭环，也暴露了边界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3B69A-E6A6-424E-98B1-C409573F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D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E7AB3-A996-49CD-8C33-1B577BEB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>2.5m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7A8C7-C18C-4229-8CB3-3265E8F3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4CFE3-D0CD-4D18-BBA3-A5464B2D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>目标是快速验证资源申请流程，因此第一版选择固定流程编排。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042A6-1F03-410A-8016-445BB693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87A6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87A65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95665-62EB-441D-8A16-9DA52683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资源申请的端到端流程可以跑通。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340D6-2180-4A83-B3B1-523B2429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05050"/>
            <a:ext cx="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DE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1E178-248A-4AF6-B416-431B14CF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81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rPr>
              <a:t>遇到的边界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E7CDC-6027-4CD3-BD6A-711778A7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19400"/>
            <a:ext cx="5048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参数收集、校验和状态分支需要大量控制代码。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用户无法像使用 Copilot 一样，通过多轮对话理解问题、补齐信息与调整请求。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新增业务场景意味着继续复制流程逻辑。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E01911-41D4-4EBA-AE4C-BBE5360D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072A6-E035-488B-9310-B275C5FA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3721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工程结论：问题不在于“能否跑通”，而在于“能否持续扩展”。</a:t>
            </a:r>
          </a:p>
        </p:txBody>
      </p:sp>
    </p:spTree>
    <p:extLst>
      <p:ext uri="{BB962C8B-B14F-4D97-AF65-F5344CB8AC3E}">
        <p14:creationId xmlns:p14="http://schemas.microsoft.com/office/powerpoint/2010/main" val="4191670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BC0D2-0650-4443-AC68-78B1C8AC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A1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B1A1E-1B92-4C6B-80AB-0F79CAE1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rPr>
              <a:t>TEK STANDARD CUP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51917-78B0-4958-A41D-3AF703D7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关键技术决策：以 Skill 承载业务能力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D5D90-9884-49DA-B32A-77AE435E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D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93615-0104-4C51-9C5C-7087DEC7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>2m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ABA5A-EF82-4F9A-BB1B-F98B48CE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F6AC1-CE2C-4A5C-9654-FA0B9D14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>将“业务流程”从 Agent 框架中抽离，让平台负责通用编排与治理，让 Skill 负责领域规则。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06C43-6F0C-4F7E-9E5F-61E29FA6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rPr>
              <a:t>Agent 平台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0A81F-8EDA-4C68-AF77-7B3A194F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000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负责对话、会话状态、前后端交互、运行时编排与受控调用。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92BFE-7509-416B-AD89-CA756CEA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6700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rPr>
              <a:t>Skill 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31153-DFE9-4EBA-B29C-644AD036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67050"/>
            <a:ext cx="3000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定义何时处理、收集哪些信息、如何校验、可调用哪些 Tool。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06408-AE9A-4A1F-9DF7-D6986C69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rPr>
              <a:t>领域能力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5B58D-43DE-4EFD-9C3E-5C3868F7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3000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云资源申请、云资源计费、云资源成本估算，并可继续接入新的 Skill。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67B57-EA7F-4CB4-9B0C-64AAEBAC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67075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6CC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425E9-78AC-41EB-888B-EC296D1E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267075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6CC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7D082-222E-45DF-884F-4421450C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EFA1E2-D85F-46E5-96F9-047557AE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81625"/>
            <a:ext cx="962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结果：新增场景不再复制固定工作流，而是按业务边界新增或演进 Skill。</a:t>
            </a:r>
          </a:p>
        </p:txBody>
      </p:sp>
    </p:spTree>
    <p:extLst>
      <p:ext uri="{BB962C8B-B14F-4D97-AF65-F5344CB8AC3E}">
        <p14:creationId xmlns:p14="http://schemas.microsoft.com/office/powerpoint/2010/main" val="5395502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E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1AE722-9675-4457-A28C-EDD9BA7C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80C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80CFFF"/>
                </a:solidFill>
                <a:latin typeface="Arial Unicode MS"/>
                <a:ea typeface="Arial Unicode MS"/>
                <a:cs typeface="Arial Unicode MS"/>
              </a:rPr>
              <a:t>TEK STANDARD CUP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762B7-2DAB-4539-B6FA-C3A6C85A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Agent Loop 与平台组件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C2751-55CE-4257-AB0C-78A9662B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A1C8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1C8E8"/>
                </a:solidFill>
                <a:latin typeface="Arial Unicode MS"/>
                <a:ea typeface="Arial Unicode MS"/>
                <a:cs typeface="Arial Unicode MS"/>
              </a:rPr>
              <a:t>根据用户回复与工具结果，持续判断下一步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8A6F3-DCCE-4962-BFF0-24B5CEEA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781175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F55"/>
          </a:solidFill>
          <a:ln xmlns:a="http://schemas.openxmlformats.org/drawingml/2006/main" w="14288">
            <a:solidFill>
              <a:srgbClr val="66DAB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45547-AAA2-4FDF-AE31-C9B75767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8764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66DA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6DABD"/>
                </a:solidFill>
                <a:latin typeface="Arial Unicode MS"/>
                <a:ea typeface="Arial Unicode MS"/>
                <a:cs typeface="Arial Unicode MS"/>
              </a:rPr>
              <a:t>Skill 业务规则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1D49F-AA6B-4656-8F9D-7951D7E5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2193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4F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4F3FF"/>
                </a:solidFill>
                <a:latin typeface="Arial Unicode MS"/>
                <a:ea typeface="Arial Unicode MS"/>
                <a:cs typeface="Arial Unicode MS"/>
              </a:rPr>
              <a:t>按需读取领域指令与约束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B2078-C11D-4272-BC5C-78E9EB41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781175"/>
            <a:ext cx="25336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F55"/>
          </a:solidFill>
          <a:ln xmlns:a="http://schemas.openxmlformats.org/drawingml/2006/main" w="14288">
            <a:solidFill>
              <a:srgbClr val="66DAB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AC7A4-C8C1-41AB-A325-2D07AD2D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8764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66DA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6DABD"/>
                </a:solidFill>
                <a:latin typeface="Arial Unicode MS"/>
                <a:ea typeface="Arial Unicode MS"/>
                <a:cs typeface="Arial Unicode MS"/>
              </a:rPr>
              <a:t>会话状态与记忆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68EAC-4A53-4799-AD48-0BAA01B5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21932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4F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4F3FF"/>
                </a:solidFill>
                <a:latin typeface="Arial Unicode MS"/>
                <a:ea typeface="Arial Unicode MS"/>
                <a:cs typeface="Arial Unicode MS"/>
              </a:rPr>
              <a:t>历史消息、执行状态与资料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4663B-50C8-493B-92B8-88E3DEE3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0"/>
            <a:ext cx="2343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F55"/>
          </a:solidFill>
          <a:ln xmlns:a="http://schemas.openxmlformats.org/drawingml/2006/main" w="14288">
            <a:solidFill>
              <a:srgbClr val="5EB9F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F637C-F15C-4F60-B399-27026E3D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5EB9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5EB9F4"/>
                </a:solidFill>
                <a:latin typeface="Arial Unicode MS"/>
                <a:ea typeface="Arial Unicode MS"/>
                <a:cs typeface="Arial Unicode MS"/>
              </a:rPr>
              <a:t>用户交互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BB9D9-6E1F-43A4-B7FE-CC45CBEC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4F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4F3FF"/>
                </a:solidFill>
                <a:latin typeface="Arial Unicode MS"/>
                <a:ea typeface="Arial Unicode MS"/>
                <a:cs typeface="Arial Unicode MS"/>
              </a:rPr>
              <a:t>提出需求、补充与确认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C0E55-0F06-4C31-A0D4-44A1F723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0480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F55"/>
          </a:solidFill>
          <a:ln xmlns:a="http://schemas.openxmlformats.org/drawingml/2006/main" w="14288">
            <a:solidFill>
              <a:srgbClr val="5EB9F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BD05D-B40C-4C32-BAD1-304A092C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143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5EB9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5EB9F4"/>
                </a:solidFill>
                <a:latin typeface="Arial Unicode MS"/>
                <a:ea typeface="Arial Unicode MS"/>
                <a:cs typeface="Arial Unicode MS"/>
              </a:rPr>
              <a:t>模型判断下一步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B40F3-05ED-41DE-81C9-C83FB3E8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486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4F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4F3FF"/>
                </a:solidFill>
                <a:latin typeface="Arial Unicode MS"/>
                <a:ea typeface="Arial Unicode MS"/>
                <a:cs typeface="Arial Unicode MS"/>
              </a:rPr>
              <a:t>理解请求，选择行动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620FE-D147-4E68-8C4B-C03FB4FF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048000"/>
            <a:ext cx="433387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F55"/>
          </a:solidFill>
          <a:ln xmlns:a="http://schemas.openxmlformats.org/drawingml/2006/main" w="14288">
            <a:solidFill>
              <a:srgbClr val="FFB94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DBB422-BB53-4613-A458-60A01E58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143250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B9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B94D"/>
                </a:solidFill>
                <a:latin typeface="Arial Unicode MS"/>
                <a:ea typeface="Arial Unicode MS"/>
                <a:cs typeface="Arial Unicode MS"/>
              </a:rPr>
              <a:t>受控工具调用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93D4B-AE97-4E57-AB49-2AA41083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486150"/>
            <a:ext cx="4067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4F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4F3FF"/>
                </a:solidFill>
                <a:latin typeface="Arial Unicode MS"/>
                <a:ea typeface="Arial Unicode MS"/>
                <a:cs typeface="Arial Unicode MS"/>
              </a:rPr>
              <a:t>需要审批时暂停，确认后执行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8EE37-F433-42DB-8D94-66A65A23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76750"/>
            <a:ext cx="3048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F55"/>
          </a:solidFill>
          <a:ln xmlns:a="http://schemas.openxmlformats.org/drawingml/2006/main" w="14288">
            <a:solidFill>
              <a:srgbClr val="5EB9F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E72AE5-973A-4C46-A26B-C1CB6C19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720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5EB9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5EB9F4"/>
                </a:solidFill>
                <a:latin typeface="Arial Unicode MS"/>
                <a:ea typeface="Arial Unicode MS"/>
                <a:cs typeface="Arial Unicode MS"/>
              </a:rPr>
              <a:t>读取工具结果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80EEF-E0F6-461F-9046-C4FFCC6B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9149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4F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4F3FF"/>
                </a:solidFill>
                <a:latin typeface="Arial Unicode MS"/>
                <a:ea typeface="Arial Unicode MS"/>
                <a:cs typeface="Arial Unicode MS"/>
              </a:rPr>
              <a:t>更新上下文，继续判断</a:t>
            </a:r>
          </a:p>
        </p:txBody>
      </p:sp>
      <p:cxnSp>
        <p:nvCxnSpPr>
          <p:cNvPr id="160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19400" y="3457575"/>
            <a:ext cx="942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B9F4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891E01-9E21-4D6E-9AF7-A5BA1F18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9147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1C8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1C8E8"/>
                </a:solidFill>
                <a:latin typeface="Arial Unicode MS"/>
                <a:ea typeface="Arial Unicode MS"/>
                <a:cs typeface="Arial Unicode MS"/>
              </a:rPr>
              <a:t>澄清 / 回复</a:t>
            </a:r>
          </a:p>
        </p:txBody>
      </p:sp>
      <p:cxnSp>
        <p:nvCxnSpPr>
          <p:cNvPr id="162" name=""/>
          <p:cNvCxnSpPr>
            <a:stCxn xmlns:a="http://schemas.openxmlformats.org/drawingml/2006/main" id="13" idx="2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H="1">
            <a:off x="1647825" y="3867150"/>
            <a:ext cx="3248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B9F4"/>
            </a:solidFill>
            <a:tailEnd type="arrow" w="med" len="med"/>
          </a:ln>
        </p:spPr>
      </p:cxnSp>
      <p:cxnSp>
        <p:nvCxnSpPr>
          <p:cNvPr id="163" name=""/>
          <p:cNvCxnSpPr>
            <a:stCxn xmlns:a="http://schemas.openxmlformats.org/drawingml/2006/main" id="4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4895850" y="260032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DABD"/>
            </a:solidFill>
            <a:tailEnd type="arrow" w="med" len="med"/>
          </a:ln>
        </p:spPr>
      </p:cxnSp>
      <p:cxnSp>
        <p:nvCxnSpPr>
          <p:cNvPr id="164" name=""/>
          <p:cNvCxnSpPr>
            <a:stCxn xmlns:a="http://schemas.openxmlformats.org/drawingml/2006/main" id="7" idx="1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4895850" y="2190750"/>
            <a:ext cx="1743075" cy="857250"/>
          </a:xfrm>
          <a:prstGeom xmlns:a="http://schemas.openxmlformats.org/drawingml/2006/main" prst="bentConnector4">
            <a:avLst>
              <a:gd name="adj1" fmla="val 13115"/>
              <a:gd name="adj2" fmla="val 73333"/>
            </a:avLst>
          </a:prstGeom>
          <a:ln xmlns:a="http://schemas.openxmlformats.org/drawingml/2006/main" w="19050">
            <a:solidFill>
              <a:srgbClr val="66DABD"/>
            </a:solidFill>
            <a:tailEnd type="arrow" w="med" len="med"/>
          </a:ln>
        </p:spPr>
      </p:cxnSp>
      <p:cxnSp>
        <p:nvCxnSpPr>
          <p:cNvPr id="165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029325" y="3457575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B9F4"/>
            </a:solidFill>
            <a:tailEnd type="arrow" w="med" len="med"/>
          </a:ln>
        </p:spPr>
      </p:cxnSp>
      <p:cxnSp>
        <p:nvCxnSpPr>
          <p:cNvPr id="166" name=""/>
          <p:cNvCxnSpPr>
            <a:stCxn xmlns:a="http://schemas.openxmlformats.org/drawingml/2006/main" id="16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458200" y="3867150"/>
            <a:ext cx="823913" cy="1019175"/>
          </a:xfrm>
          <a:prstGeom xmlns:a="http://schemas.openxmlformats.org/drawingml/2006/main" prst="bentConnector5">
            <a:avLst>
              <a:gd name="adj1" fmla="val 0"/>
              <a:gd name="adj2" fmla="val 22430"/>
              <a:gd name="adj3" fmla="val 72254"/>
            </a:avLst>
          </a:prstGeom>
          <a:ln xmlns:a="http://schemas.openxmlformats.org/drawingml/2006/main" w="19050">
            <a:solidFill>
              <a:srgbClr val="5EB9F4"/>
            </a:solidFill>
            <a:tailEnd type="arrow" w="med" len="med"/>
          </a:ln>
        </p:spPr>
      </p:cxnSp>
      <p:cxnSp>
        <p:nvCxnSpPr>
          <p:cNvPr id="167" name=""/>
          <p:cNvCxnSpPr>
            <a:stCxn xmlns:a="http://schemas.openxmlformats.org/drawingml/2006/main" id="19" idx="1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H="1" flipV="1">
            <a:off x="4895850" y="3867150"/>
            <a:ext cx="514350" cy="10191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5EB9F4"/>
            </a:solidFill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4EC493-BEAE-42EB-8D5B-3A2D469C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286375"/>
            <a:ext cx="2600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80C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80CFFF"/>
                </a:solidFill>
                <a:latin typeface="Arial Unicode MS"/>
                <a:ea typeface="Arial Unicode MS"/>
                <a:cs typeface="Arial Unicode MS"/>
              </a:rPr>
              <a:t>AGENT LOOP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689AB1-9B66-4250-AE9A-2208A177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D2949"/>
          </a:solidFill>
          <a:ln xmlns:a="http://schemas.openxmlformats.org/drawingml/2006/main" w="14288">
            <a:solidFill>
              <a:srgbClr val="3875A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46BA7D-89C5-4430-A277-118CF11E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0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80C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80CFFF"/>
                </a:solidFill>
                <a:latin typeface="Arial Unicode MS"/>
                <a:ea typeface="Arial Unicode MS"/>
                <a:cs typeface="Arial Unicode MS"/>
              </a:rPr>
              <a:t>执行与系统接入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940E91-2406-4B9D-9C50-091A6283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000750"/>
            <a:ext cx="866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E4F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E4F3FF"/>
                </a:solidFill>
                <a:latin typeface="Arial Unicode MS"/>
                <a:ea typeface="Arial Unicode MS"/>
                <a:cs typeface="Arial Unicode MS"/>
              </a:rPr>
              <a:t>MCP / 自定义 Tool     外部业务系统     Sandbox 工作区与产物</a:t>
            </a:r>
          </a:p>
        </p:txBody>
      </p:sp>
      <p:cxnSp>
        <p:nvCxnSpPr>
          <p:cNvPr id="172" name=""/>
          <p:cNvCxnSpPr>
            <a:stCxn xmlns:a="http://schemas.openxmlformats.org/drawingml/2006/main" id="16" idx="3"/>
            <a:endCxn xmlns:a="http://schemas.openxmlformats.org/drawingml/2006/main" id="31" idx="3"/>
          </p:cNvCxnSpPr>
          <p:nvPr/>
        </p:nvCxnSpPr>
        <p:spPr>
          <a:xfrm xmlns:a="http://schemas.openxmlformats.org/drawingml/2006/main">
            <a:off x="11449050" y="3457575"/>
            <a:ext cx="228600" cy="26955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FFB94D"/>
            </a:solidFill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A4CE91-1676-4AD8-86E6-AC6D2DA3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627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A1C8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1C8E8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6314B6F-E89C-4A04-8DB7-CE11DC26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000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6C7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A6C7E8"/>
                </a:solidFill>
                <a:latin typeface="Arial Unicode MS"/>
                <a:ea typeface="Arial Unicode MS"/>
                <a:cs typeface="Arial Unicode MS"/>
              </a:rPr>
              <a:t>3m</a:t>
            </a:r>
          </a:p>
        </p:txBody>
      </p:sp>
    </p:spTree>
    <p:extLst>
      <p:ext uri="{BB962C8B-B14F-4D97-AF65-F5344CB8AC3E}">
        <p14:creationId xmlns:p14="http://schemas.microsoft.com/office/powerpoint/2010/main" val="12118164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4A3386-668C-4419-9100-5A6B2965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A1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9C3AA-03DA-4216-9069-FB763A1F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rPr>
              <a:t>TEK STANDARD CUP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B1ABA-16F7-4DB9-BAA5-5274FB7A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三项已落地 Skill，验证平台的可扩展性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E167F-0C1E-44BA-A61F-32FEFDFD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D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25644-8013-4D84-AF47-A4F7DC06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>3m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9F1AD-5DBD-4B58-A7CA-A8DBC243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D895E-D3DF-4294-8D3A-0CBA4364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B225C-4DB8-4A6C-B5BE-5338D8A4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5262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Danaan Cloud Resource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7FD7A-EACA-4DE2-8489-A1D33606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rPr>
              <a:t>创建资源申请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7AD9D-99BC-40DE-B876-6319979D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按资源类型引导收集字段，解释属性，校验并在确认后提交。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AD517-852B-420F-B0A5-BC3A5B2B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DE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94CC2-C26A-4A01-A816-5DF8EC5D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18A38-F818-418A-917C-F1A7CC51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9562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Cost Consultant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2287F-97CB-4E23-B3C2-8B0C6A87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956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rPr>
              <a:t>成本查询与分析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A1460-2614-483E-BECA-4EA6E075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95625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查询 GCP / AliCloud 历史费用，支持应用、GKE Namespace 与云服务等分析场景。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F5C92-C265-40F2-A3A3-E179AE57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DE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552ED1-3C85-4CA8-BDF7-890447FA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9528E-0E5D-4960-9A77-CD3267CD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Cost Estimation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1320BD-04E3-42D3-99CD-CE51F5BF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386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rPr>
              <a:t>成本估算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C7DC64-DCA0-49E7-9EBA-080DAD25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38625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结合合同价、SKU 映射与历史回溯，对 GCP 新用例进行费用估算。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A88C8F-37A4-4AD3-9708-AA0662B9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87A6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87A65"/>
                </a:solidFill>
                <a:latin typeface="Arial Unicode MS"/>
                <a:ea typeface="Arial Unicode MS"/>
                <a:cs typeface="Arial Unicode MS"/>
              </a:rPr>
              <a:t>平台不是只服务一个资源申请流程，而是承载持续增加的云资源业务能力。</a:t>
            </a:r>
          </a:p>
        </p:txBody>
      </p:sp>
    </p:spTree>
    <p:extLst>
      <p:ext uri="{BB962C8B-B14F-4D97-AF65-F5344CB8AC3E}">
        <p14:creationId xmlns:p14="http://schemas.microsoft.com/office/powerpoint/2010/main" val="1026557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250F3-18DC-4B98-9A2B-A5ED28F5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A1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30CC2-482D-4A4E-A1EC-94F224C7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rPr>
              <a:t>TEK STANDARD CUP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76BBF-E665-4770-B49A-91D3B622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首个落地 Skill：支持 9 类云资源申请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1DBC2-5917-4CD3-9C5A-D8FB4292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D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CD323-71F5-4E27-A9B0-DB6C4631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>2.5m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8E93F-CEFC-4D88-8F8C-45B61337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35369-888B-488B-A1ED-742FA23E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>Danaan Cloud Resource Skill 已跑通资源申请闭环，并为新增资源类型预留扩展空间。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257AB-D78A-4182-9932-9AF56790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数据与存储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56BCC-4446-4596-A26D-345BEEC0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9A1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DB920-C9EE-45CE-A203-C7821507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Cloud Storage</a:t>
            </a:r>
          </a:p>
          <a:p xmlns:a="http://schemas.openxmlformats.org/drawingml/2006/main">
            <a:pPr>
              <a:buNone/>
              <a:defRPr sz="150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BigQuery</a:t>
            </a:r>
          </a:p>
          <a:p xmlns:a="http://schemas.openxmlformats.org/drawingml/2006/main">
            <a:pPr>
              <a:buNone/>
              <a:defRPr sz="150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Cloud SQL</a:t>
            </a:r>
          </a:p>
          <a:p xmlns:a="http://schemas.openxmlformats.org/drawingml/2006/main">
            <a:pPr>
              <a:buNone/>
              <a:defRPr sz="150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Spanner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D35F1-BD9A-436E-A629-6FC29557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71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运行与集成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898B7-A5D6-4084-866F-F016B23A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908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9A1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9949E-BBDC-4BD6-B33D-6C93381B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305175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DataFlow</a:t>
            </a:r>
          </a:p>
          <a:p xmlns:a="http://schemas.openxmlformats.org/drawingml/2006/main">
            <a:pPr>
              <a:buNone/>
              <a:defRPr sz="150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Pub/Sub</a:t>
            </a:r>
          </a:p>
          <a:p xmlns:a="http://schemas.openxmlformats.org/drawingml/2006/main">
            <a:pPr>
              <a:buNone/>
              <a:defRPr sz="150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Artifact Registry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BCAE9-E099-4884-B180-69E994A4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71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安全与可观测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ECD37-6EA2-4F21-B1CA-41984D18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908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9A1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4EFF6-EE79-4D5B-BF54-78296EEB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05175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Secret Manager</a:t>
            </a:r>
          </a:p>
          <a:p xmlns:a="http://schemas.openxmlformats.org/drawingml/2006/main">
            <a:pPr>
              <a:buNone/>
              <a:defRPr sz="150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Metrics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BDE15F-54E0-40D7-BDF8-01F8979D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77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87DFCA-E34F-46D3-A494-8E5251C6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支持别名识别，但提交时使用标准资源名称，降低用户表达差异带来的歧义。</a:t>
            </a:r>
          </a:p>
        </p:txBody>
      </p:sp>
    </p:spTree>
    <p:extLst>
      <p:ext uri="{BB962C8B-B14F-4D97-AF65-F5344CB8AC3E}">
        <p14:creationId xmlns:p14="http://schemas.microsoft.com/office/powerpoint/2010/main" val="673081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973BED-3288-45D8-842C-98CF7112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A1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42691-FD0F-44E8-8E0F-AE22927D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rPr>
              <a:t>TEK STANDARD CUP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FA084-A5DF-4DFF-A238-59A67F1A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生产上线准备：能力已在 Dev 验证，等待 Sandbox 就绪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60F5E-E13D-44F8-85B0-BA9551D4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D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5896B-02CA-484A-ACA4-DF5B3F85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>2m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F8ACC-1B78-4454-9A59-309844E1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21932-F702-4558-9E6E-048AFB94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rPr>
              <a:t>已完成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D359E-8B14-4560-9918-ACFB208E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Agent 基础架构、前后端、资源申请闭环及 Dev 环境验证测试。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8D379-255C-431E-9440-535E593C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rPr>
              <a:t>生产前提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A3EE2-67EB-4D35-95FC-09897AF2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33675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等待 GKE Sandbox 在 Prod Cluster 可用，作为受控运行环境。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1A8F0-E433-43B0-933E-1EBA0631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336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rPr>
              <a:t>上线后价值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F556E-40BA-4844-AC71-E7608DB8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33675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在生产环境将资源申请能力提供给真实用户，并继续接入新资源和新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9F6E6-3037-435B-904C-0DDAC76D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077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B5461-DBA1-4BDD-B8C7-CDF89BC2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5302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项目当前状态：不是概念验证，而是已完成核心实现与 Dev 验证、进入生产上线准备阶段。</a:t>
            </a:r>
          </a:p>
        </p:txBody>
      </p:sp>
    </p:spTree>
    <p:extLst>
      <p:ext uri="{BB962C8B-B14F-4D97-AF65-F5344CB8AC3E}">
        <p14:creationId xmlns:p14="http://schemas.microsoft.com/office/powerpoint/2010/main" val="9715237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FCF02C-734F-4655-8CE0-92DE29CC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A1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4FA66-61E2-4BCD-841B-4332C0C5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06CC8"/>
                </a:solidFill>
                <a:latin typeface="Arial Unicode MS"/>
                <a:ea typeface="Arial Unicode MS"/>
                <a:cs typeface="Arial Unicode MS"/>
              </a:rPr>
              <a:t>TEK STANDARD CUP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F023B-B70F-472C-B9A8-0F2A7212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Dev 现场演示：提交一份 Cloud SQL 资源申请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A5E10-713D-41D8-86F2-E039E103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D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E60C6-DA53-48E6-9E8C-DC8D1B4C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>5m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D1F6C-7C8C-42A2-83AF-8C6A4393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F5E1E-6404-4282-8D28-3CB98746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C96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36EE4-6A0B-433C-9508-9D7C5A53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21E82-9AA3-4572-8993-6AE5248D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336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自然语言发起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9FB76-D3DF-433E-ACAB-9D144F0B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3362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“我需要申请一个 Dev 环境的 Cloud SQL 实例”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A3299-6557-4C0F-9D6B-2127CF3D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DE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D3488-9A67-4F68-BF61-DDF665FB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89612-E2A3-44F3-8535-C4D996A9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527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解释与补齐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53DE6-A14A-4DA4-8081-FADFEF45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5277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Agent 解释 Schema 属性，识别缺失字段并进行多轮追问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F3E465-30F4-4D85-8B17-A664E639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D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6B55B-7C74-4781-926D-57D98D66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97753F-5244-4781-8667-CA86EC15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719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校验与确认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679D2-D733-47D6-88B9-D0034AA6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7192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展示标准化申请摘要，用户确认后才允许调用提交能力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965DE-124F-43F9-A903-FAF4F6F7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DE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022204-53BA-4569-8CCC-57CC9DCC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59A12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53D420-E1FA-463E-B5A9-2A5127B1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910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C356B"/>
                </a:solidFill>
                <a:latin typeface="Arial Unicode MS"/>
                <a:ea typeface="Arial Unicode MS"/>
                <a:cs typeface="Arial Unicode MS"/>
              </a:rPr>
              <a:t>Dev 提交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1BA6A4-CC59-4B42-85C1-6BA7C7CC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9107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83757"/>
                </a:solidFill>
                <a:latin typeface="Arial Unicode MS"/>
                <a:ea typeface="Arial Unicode MS"/>
                <a:cs typeface="Arial Unicode MS"/>
              </a:rPr>
              <a:t>在 Dev 环境提交资源申请，不影响生产环境</a:t>
            </a:r>
          </a:p>
        </p:txBody>
      </p:sp>
    </p:spTree>
    <p:extLst>
      <p:ext uri="{BB962C8B-B14F-4D97-AF65-F5344CB8AC3E}">
        <p14:creationId xmlns:p14="http://schemas.microsoft.com/office/powerpoint/2010/main" val="4908004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E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505D06-7F2F-4C74-B641-8C65C5A6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A21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68D2E-C58A-4C35-A0D5-4612CAF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4C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4C8FF"/>
                </a:solidFill>
                <a:latin typeface="Arial Unicode MS"/>
                <a:ea typeface="Arial Unicode MS"/>
                <a:cs typeface="Arial Unicode MS"/>
              </a:rPr>
              <a:t>TEK STANDARD CUP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208CB-CD1D-4FD7-9F56-F17E69D9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Danaan Agent 面向客户的价值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8F527-DD7A-4574-8FE9-4D62248D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A6C7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A6C7E8"/>
                </a:solidFill>
                <a:latin typeface="Arial Unicode MS"/>
                <a:ea typeface="Arial Unicode MS"/>
                <a:cs typeface="Arial Unicode MS"/>
              </a:rPr>
              <a:t>将资源申请、治理与成本能力沉淀为可持续服务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37FD3-031E-4E89-8E60-528331DC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14942-9E61-4855-B4FB-34DAAD22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2724150" cy="2724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72"/>
          </a:solidFill>
          <a:ln xmlns:a="http://schemas.openxmlformats.org/drawingml/2006/main" w="11906">
            <a:solidFill>
              <a:srgbClr val="64C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ABCE3-7757-42AE-98BB-2BEF8CA7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886075"/>
            <a:ext cx="220980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2A4E"/>
          </a:solidFill>
          <a:ln xmlns:a="http://schemas.openxmlformats.org/drawingml/2006/main" w="11906">
            <a:solidFill>
              <a:srgbClr val="2F91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A767A-2761-41D9-A2C3-2993B36E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861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64C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4C8FF"/>
                </a:solidFill>
                <a:latin typeface="Arial Unicode MS"/>
                <a:ea typeface="Arial Unicode MS"/>
                <a:cs typeface="Arial Unicode MS"/>
              </a:rPr>
              <a:t>DANAAN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262FC-A60F-4992-8F81-6F8E7191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05250"/>
            <a:ext cx="118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31610-9C12-4A67-ADF4-8AA132B4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10527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81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客户云服务</a:t>
            </a:r>
          </a:p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智能入口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DE0D3-8157-4D7E-9E39-8DBD29C0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289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2B76A-FC7A-40FE-A904-74C9B921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289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/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D6234-9A60-4DEE-82F5-CFD27698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9097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12BDC-79FB-4429-879A-C4371297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530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/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EE61D-A38C-4DE7-8648-6DD74314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19375"/>
            <a:ext cx="4667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C284B"/>
          </a:solidFill>
          <a:ln xmlns:a="http://schemas.openxmlformats.org/drawingml/2006/main" w="11906">
            <a:solidFill>
              <a:srgbClr val="64C8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1EEFF-1024-45BA-835A-6A56AE63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955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C8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8BFAF-C493-42C6-8184-606587B0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14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74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81E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81E4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3F327F-4F36-4AA6-8FAE-5A02A3E9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813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143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降低云平台运营负担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58BCA4-7E59-42A5-BD9C-D25F5BDA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76575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6E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6EFFF"/>
                </a:solidFill>
                <a:latin typeface="Arial Unicode MS"/>
                <a:ea typeface="Arial Unicode MS"/>
                <a:cs typeface="Arial Unicode MS"/>
              </a:rPr>
              <a:t>将高频咨询与信息补充前移到对话过程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E3D57-DFCB-4F9D-83E5-B9874D67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81400"/>
            <a:ext cx="4667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C284B"/>
          </a:solidFill>
          <a:ln xmlns:a="http://schemas.openxmlformats.org/drawingml/2006/main" w="11906">
            <a:solidFill>
              <a:srgbClr val="4AD0A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E3968F-E26D-4E52-ACB8-96509B01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576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0A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D7B11E-46A4-43BD-A4AD-9E37D5C0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766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74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81E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81E4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D64B9B-C5C5-41AD-9882-197D620F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43325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143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提升资源治理一致性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A5EB71-68D7-4192-9664-D0C396CE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386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6E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6EFFF"/>
                </a:solidFill>
                <a:latin typeface="Arial Unicode MS"/>
                <a:ea typeface="Arial Unicode MS"/>
                <a:cs typeface="Arial Unicode MS"/>
              </a:rPr>
              <a:t>将模板、校验规则与确认机制融入申请流程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1A6B08-04D2-4103-88A8-13B5FCF5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543425"/>
            <a:ext cx="4667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C284B"/>
          </a:solidFill>
          <a:ln xmlns:a="http://schemas.openxmlformats.org/drawingml/2006/main" w="11906">
            <a:solidFill>
              <a:srgbClr val="F7A21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DEF5EC-1C2E-4C86-B046-7BD00963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19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A21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8647AB-5DC9-4A16-9ABD-695C8970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838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74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81E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81E4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61E118-33F2-446F-B689-46C44FD8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0535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143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让成本决策更有依据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FB48EA-BDB6-4C3A-BEF4-05A3767E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00625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6E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6EFFF"/>
                </a:solidFill>
                <a:latin typeface="Arial Unicode MS"/>
                <a:ea typeface="Arial Unicode MS"/>
                <a:cs typeface="Arial Unicode MS"/>
              </a:rPr>
              <a:t>支持历史费用查询与新用例成本估算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3A35CB-0B86-40FC-982A-EA996D3D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096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315C"/>
          </a:solidFill>
          <a:ln xmlns:a="http://schemas.openxmlformats.org/drawingml/2006/main" w="11906">
            <a:solidFill>
              <a:srgbClr val="2B6EA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7C0C3D-6D58-4F8F-9224-7D697EB4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341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4C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64C8FF"/>
                </a:solidFill>
                <a:latin typeface="Arial Unicode MS"/>
                <a:ea typeface="Arial Unicode MS"/>
                <a:cs typeface="Arial Unicode MS"/>
              </a:rPr>
              <a:t>可持续扩展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2713C8-65EC-4F9C-BA62-71DA69EC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134100"/>
            <a:ext cx="7772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686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6E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D6EFFF"/>
                </a:solidFill>
                <a:latin typeface="Arial Unicode MS"/>
                <a:ea typeface="Arial Unicode MS"/>
                <a:cs typeface="Arial Unicode MS"/>
              </a:rPr>
              <a:t>在首个资源申请场景验证后，客户可继续接入新的资源类型、成本场景和业务 Skill。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5527FC-7267-4FE6-AD93-9D711662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A6C7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6C7E8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2F8588-35A1-4597-91F6-B248DB03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000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6C7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>
                <a:solidFill>
                  <a:srgbClr val="A6C7E8"/>
                </a:solidFill>
                <a:latin typeface="Arial Unicode MS"/>
                <a:ea typeface="Arial Unicode MS"/>
                <a:cs typeface="Arial Unicode MS"/>
              </a:rPr>
              <a:t>2m</a:t>
            </a:r>
          </a:p>
        </p:txBody>
      </p:sp>
    </p:spTree>
    <p:extLst>
      <p:ext uri="{BB962C8B-B14F-4D97-AF65-F5344CB8AC3E}">
        <p14:creationId xmlns:p14="http://schemas.microsoft.com/office/powerpoint/2010/main" val="15819706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2026-09-15T13:29:59.5810000Z</dcterms:created>
  <dcterms:modified xsi:type="dcterms:W3CDTF">2026-09-15T13:29:59.5810000Z</dcterms:modified>
</coreProperties>
</file>